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70" r:id="rId5"/>
    <p:sldId id="260" r:id="rId6"/>
    <p:sldId id="261" r:id="rId7"/>
    <p:sldId id="271" r:id="rId8"/>
    <p:sldId id="262" r:id="rId9"/>
    <p:sldId id="264" r:id="rId10"/>
    <p:sldId id="268" r:id="rId11"/>
  </p:sldIdLst>
  <p:sldSz cx="12192000" cy="6858000"/>
  <p:notesSz cx="12192000" cy="6858000"/>
  <p:defaultTextStyle>
    <a:defPPr lvl="0">
      <a:defRPr kern="0"/>
    </a:defPPr>
    <a:lvl1pPr lvl="0">
      <a:defRPr/>
    </a:lvl1pPr>
    <a:lvl2pPr lvl="1">
      <a:defRPr/>
    </a:lvl2pPr>
    <a:lvl3pPr lvl="2">
      <a:defRPr/>
    </a:lvl3pPr>
    <a:lvl4pPr lvl="3">
      <a:defRPr/>
    </a:lvl4pPr>
    <a:lvl5pPr lvl="4">
      <a:defRPr/>
    </a:lvl5pPr>
    <a:lvl6pPr lvl="5">
      <a:defRPr/>
    </a:lvl6pPr>
    <a:lvl7pPr lvl="6">
      <a:defRPr/>
    </a:lvl7pPr>
    <a:lvl8pPr lvl="7">
      <a:defRPr/>
    </a:lvl8pPr>
    <a:lvl9pPr lvl="8">
      <a:defRPr/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7" d="100"/>
          <a:sy n="27" d="100"/>
        </p:scale>
        <p:origin x="34" y="147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A2041-DB46-4EDC-AFA5-3BD7DF9D2F45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D619C-BB05-4E36-9E60-4821FE9E2E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162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D619C-BB05-4E36-9E60-4821FE9E2E5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144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93627" y="1295615"/>
            <a:ext cx="4604745" cy="6567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2121" y="1704082"/>
            <a:ext cx="11140440" cy="459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3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jpe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 /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207" y="3562072"/>
            <a:ext cx="4207715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GUIDED BY</a:t>
            </a:r>
            <a:endParaRPr sz="2800" dirty="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30"/>
              </a:spcBef>
            </a:pPr>
            <a:r>
              <a:rPr sz="1800" b="1" spc="-10" dirty="0" err="1">
                <a:solidFill>
                  <a:srgbClr val="002060"/>
                </a:solidFill>
                <a:latin typeface="Times New Roman"/>
                <a:cs typeface="Times New Roman"/>
              </a:rPr>
              <a:t>Dr</a:t>
            </a:r>
            <a:r>
              <a:rPr sz="2000" b="1" spc="-10" dirty="0" err="1">
                <a:solidFill>
                  <a:srgbClr val="002060"/>
                </a:solidFill>
                <a:latin typeface="Times New Roman"/>
                <a:cs typeface="Times New Roman"/>
              </a:rPr>
              <a:t>.</a:t>
            </a:r>
            <a:r>
              <a:rPr lang="en-US" sz="2000" b="1" spc="-10" dirty="0" err="1">
                <a:solidFill>
                  <a:srgbClr val="002060"/>
                </a:solidFill>
                <a:latin typeface="Times New Roman"/>
                <a:cs typeface="Times New Roman"/>
              </a:rPr>
              <a:t>K.RAJAGOPAL</a:t>
            </a:r>
            <a:endParaRPr lang="en-US" sz="2000" b="1" spc="-10" dirty="0">
              <a:solidFill>
                <a:srgbClr val="002060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30"/>
              </a:spcBef>
            </a:pPr>
            <a:r>
              <a:rPr sz="2000" b="1" spc="-20" dirty="0">
                <a:solidFill>
                  <a:srgbClr val="002060"/>
                </a:solidFill>
                <a:latin typeface="Times New Roman"/>
                <a:cs typeface="Times New Roman"/>
              </a:rPr>
              <a:t>SIMATS</a:t>
            </a:r>
            <a:r>
              <a:rPr sz="2000" b="1" spc="-95" dirty="0">
                <a:solidFill>
                  <a:srgbClr val="00206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002060"/>
                </a:solidFill>
                <a:latin typeface="Times New Roman"/>
                <a:cs typeface="Times New Roman"/>
              </a:rPr>
              <a:t>Engineering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454189" y="3562072"/>
            <a:ext cx="3150378" cy="12747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10" dirty="0">
                <a:solidFill>
                  <a:srgbClr val="FF0000"/>
                </a:solidFill>
                <a:latin typeface="Times New Roman"/>
                <a:cs typeface="Times New Roman"/>
              </a:rPr>
              <a:t>STUDENT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b="1" spc="-10" dirty="0">
                <a:solidFill>
                  <a:srgbClr val="0D2841"/>
                </a:solidFill>
                <a:latin typeface="Times New Roman"/>
                <a:cs typeface="Times New Roman"/>
              </a:rPr>
              <a:t>SRIMATHI.H(192524403)</a:t>
            </a:r>
            <a:endParaRPr lang="en-US" sz="1800" b="1" spc="-10" dirty="0">
              <a:solidFill>
                <a:srgbClr val="0D2841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lang="en-US" b="1" spc="-10" dirty="0">
                <a:solidFill>
                  <a:srgbClr val="0D2841"/>
                </a:solidFill>
                <a:latin typeface="Times New Roman"/>
                <a:cs typeface="Times New Roman"/>
              </a:rPr>
              <a:t>Dept of AIDS</a:t>
            </a: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800" b="1" spc="-20" dirty="0">
                <a:solidFill>
                  <a:srgbClr val="0D2841"/>
                </a:solidFill>
                <a:latin typeface="Times New Roman"/>
                <a:cs typeface="Times New Roman"/>
              </a:rPr>
              <a:t>SIMATS</a:t>
            </a:r>
            <a:r>
              <a:rPr sz="1800" b="1" spc="-55" dirty="0">
                <a:solidFill>
                  <a:srgbClr val="0D2841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D2841"/>
                </a:solidFill>
                <a:latin typeface="Times New Roman"/>
                <a:cs typeface="Times New Roman"/>
              </a:rPr>
              <a:t>Engineering</a:t>
            </a:r>
            <a:r>
              <a:rPr lang="en-US" sz="1800" b="1" spc="-10" dirty="0">
                <a:solidFill>
                  <a:srgbClr val="0D2841"/>
                </a:solidFill>
                <a:latin typeface="Times New Roman"/>
                <a:cs typeface="Times New Roman"/>
              </a:rPr>
              <a:t>    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81200" y="1653556"/>
            <a:ext cx="82296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000" dirty="0"/>
              <a:t>Substitution Method for Logarithmic Growth</a:t>
            </a:r>
            <a:endParaRPr sz="4000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9820" y="216273"/>
            <a:ext cx="10264876" cy="937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9368" y="176982"/>
            <a:ext cx="9606115" cy="83792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4600" y="1219200"/>
            <a:ext cx="7772400" cy="536349"/>
          </a:xfrm>
          <a:prstGeom prst="rect">
            <a:avLst/>
          </a:prstGeom>
        </p:spPr>
        <p:txBody>
          <a:bodyPr vert="horz" wrap="square" lIns="0" tIns="104442" rIns="0" bIns="0" rtlCol="0">
            <a:spAutoFit/>
          </a:bodyPr>
          <a:lstStyle/>
          <a:p>
            <a:pPr marL="1135380">
              <a:lnSpc>
                <a:spcPct val="100000"/>
              </a:lnSpc>
              <a:spcBef>
                <a:spcPts val="100"/>
              </a:spcBef>
            </a:pPr>
            <a:r>
              <a:rPr lang="en-US" sz="2800" spc="-10" dirty="0"/>
              <a:t>INTRODUCTION</a:t>
            </a:r>
            <a:endParaRPr sz="28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1331494" y="2261937"/>
            <a:ext cx="8069179" cy="3343031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marR="5080" indent="-3429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lang="en-US" sz="2000" spc="-30" dirty="0">
                <a:latin typeface="Times New Roman"/>
                <a:cs typeface="Times New Roman"/>
              </a:rPr>
              <a:t>The Substitution Method is used to solve and prove recurrence relations.</a:t>
            </a:r>
          </a:p>
          <a:p>
            <a:pPr marL="354965" marR="5080" indent="-3429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lang="en-US" sz="2000" spc="-30" dirty="0">
                <a:latin typeface="Times New Roman"/>
                <a:cs typeface="Times New Roman"/>
              </a:rPr>
              <a:t> It assumes a solution and verifies it using mathematical induction.</a:t>
            </a:r>
          </a:p>
          <a:p>
            <a:pPr marL="354965" marR="5080" indent="-3429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lang="en-US" sz="2000" spc="-30" dirty="0">
                <a:latin typeface="Times New Roman"/>
                <a:cs typeface="Times New Roman"/>
              </a:rPr>
              <a:t> It is widely used in the Design and Analysis of Algorithms (DAA).</a:t>
            </a:r>
          </a:p>
          <a:p>
            <a:pPr marL="354965" marR="5080" indent="-3429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lang="en-US" sz="2000" spc="-30" dirty="0">
                <a:latin typeface="Times New Roman"/>
                <a:cs typeface="Times New Roman"/>
              </a:rPr>
              <a:t> It helps determine the time complexity of recursive algorithms.</a:t>
            </a:r>
          </a:p>
          <a:p>
            <a:pPr marL="354965" marR="5080" indent="-3429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lang="en-US" sz="2000" spc="-30" dirty="0">
                <a:latin typeface="Times New Roman"/>
                <a:cs typeface="Times New Roman"/>
              </a:rPr>
              <a:t> It is commonly applied to divide-and-conquer algorithms.</a:t>
            </a:r>
          </a:p>
          <a:p>
            <a:pPr marL="354965" marR="5080" indent="-3429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lang="en-US" sz="2000" spc="-30" dirty="0">
                <a:latin typeface="Times New Roman"/>
                <a:cs typeface="Times New Roman"/>
              </a:rPr>
              <a:t> For logarithmic growth, the recurrence relation is T(n) = T(n/2) + 1.</a:t>
            </a:r>
          </a:p>
          <a:p>
            <a:pPr marL="354965" marR="5080" indent="-34290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316865" algn="l"/>
              </a:tabLst>
            </a:pPr>
            <a:r>
              <a:rPr lang="en-US" sz="2000" spc="-30" dirty="0">
                <a:latin typeface="Times New Roman"/>
                <a:cs typeface="Times New Roman"/>
              </a:rPr>
              <a:t> Since the problem size is halved in each step, the time complexity is O(log 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328" y="154039"/>
            <a:ext cx="10928197" cy="67986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4872" y="1153682"/>
            <a:ext cx="527275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25" dirty="0"/>
              <a:t>PROBLEM  STATEMENT</a:t>
            </a:r>
            <a:endParaRPr sz="28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1540042" y="2326105"/>
            <a:ext cx="7928154" cy="2999539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recurrence relation T(n) = T(n/2) + 1.</a:t>
            </a:r>
          </a:p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the Substitution Method to solve the recurrence.</a:t>
            </a:r>
          </a:p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a solution and verify it using mathematical induction.</a:t>
            </a:r>
          </a:p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recurrence relation step by step.</a:t>
            </a:r>
          </a:p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 that the assumed solution satisfies the recurrence.</a:t>
            </a:r>
          </a:p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time complexity as O(log 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2FD83A-758D-66A5-9335-6F2771753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3E87DC7-B2FC-9565-0D10-D8771CE61B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328" y="154039"/>
            <a:ext cx="10928197" cy="67986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DFF42B79-362F-1B80-1BF2-CC942831E1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83242" y="1347537"/>
            <a:ext cx="245444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25" dirty="0"/>
              <a:t>ALGORITHM</a:t>
            </a:r>
            <a:endParaRPr sz="2800"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AD08216-4C53-0FB7-D2F1-50C564D2D909}"/>
              </a:ext>
            </a:extLst>
          </p:cNvPr>
          <p:cNvSpPr txBox="1"/>
          <p:nvPr/>
        </p:nvSpPr>
        <p:spPr>
          <a:xfrm>
            <a:off x="1288473" y="2269374"/>
            <a:ext cx="8179723" cy="2999539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the recurrence relation T(n) = T(n/2) + 1.</a:t>
            </a:r>
          </a:p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the solution T(n) ≤ c log₂ n, where c is a positive constant.</a:t>
            </a:r>
          </a:p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Substitute the assumed solution into the recurrence relation.</a:t>
            </a:r>
          </a:p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 the expression using logarithmic properties.</a:t>
            </a:r>
          </a:p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that the inequality holds for a suitable value of c.</a:t>
            </a:r>
          </a:p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Conclude that the recurrence relation has a time complexity of O(log n).</a:t>
            </a:r>
          </a:p>
        </p:txBody>
      </p:sp>
    </p:spTree>
    <p:extLst>
      <p:ext uri="{BB962C8B-B14F-4D97-AF65-F5344CB8AC3E}">
        <p14:creationId xmlns:p14="http://schemas.microsoft.com/office/powerpoint/2010/main" val="575304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97CBF5A-869C-94FD-6BF7-0CA752902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E7E4D8D3-0C4A-1999-1E55-8E6A81248FA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328" y="154039"/>
            <a:ext cx="10928197" cy="67986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9188F802-8A82-50D7-E24F-4B00BEA55A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81136" y="1145347"/>
            <a:ext cx="5325979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800" dirty="0"/>
              <a:t>ARCHITECTURE DIAGRAM</a:t>
            </a:r>
            <a:br>
              <a:rPr lang="en-US" dirty="0"/>
            </a:b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A694FB8-62A6-C7A9-4178-89961D0564C5}"/>
              </a:ext>
            </a:extLst>
          </p:cNvPr>
          <p:cNvSpPr txBox="1"/>
          <p:nvPr/>
        </p:nvSpPr>
        <p:spPr>
          <a:xfrm>
            <a:off x="2366327" y="2209800"/>
            <a:ext cx="7158673" cy="1499128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97815">
              <a:spcBef>
                <a:spcPts val="149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endParaRPr lang="en-US" sz="2000" dirty="0">
              <a:latin typeface="Times New Roman"/>
              <a:cs typeface="Times New Roman"/>
            </a:endParaRPr>
          </a:p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endParaRPr lang="en-US" sz="2000" dirty="0">
              <a:latin typeface="Times New Roman"/>
              <a:cs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B9CC1C-8C55-97AF-4BC8-FCACC233B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768" y="1898359"/>
            <a:ext cx="4362553" cy="468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715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F416F3C-6F92-6322-BEA3-F181FF51C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43BEC7B-8FB1-B8F5-A250-D11221F9DC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328" y="154039"/>
            <a:ext cx="10928197" cy="67986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9F8F17AF-AE63-CEE1-D77C-C22CB7BBCA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59705" y="1114207"/>
            <a:ext cx="306404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dirty="0"/>
              <a:t>IMPLEMENTATION</a:t>
            </a:r>
            <a:br>
              <a:rPr lang="en-US" dirty="0"/>
            </a:br>
            <a:endParaRPr spc="-1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A4303-AA13-1A27-ACB8-862C84561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854" y="1649506"/>
            <a:ext cx="4466334" cy="48315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DC7B2-F362-F4EF-6BC1-31314E765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861" y="1906404"/>
            <a:ext cx="5455024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56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EFFBAA1-615C-6602-949A-94EA7DEF0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259F9A6-E10E-B50D-0151-DEC7CB8E6B8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328" y="154039"/>
            <a:ext cx="10928197" cy="67986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50A202AD-562C-CD49-7A58-ECCA65BFEA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81136" y="1145347"/>
            <a:ext cx="5325979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br>
              <a:rPr lang="en-US" dirty="0"/>
            </a:br>
            <a:endParaRPr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A05E0F9-1366-01B6-DF08-0247AFBD28F6}"/>
              </a:ext>
            </a:extLst>
          </p:cNvPr>
          <p:cNvSpPr txBox="1"/>
          <p:nvPr/>
        </p:nvSpPr>
        <p:spPr>
          <a:xfrm>
            <a:off x="2366327" y="2209800"/>
            <a:ext cx="7158673" cy="1499128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297815">
              <a:spcBef>
                <a:spcPts val="149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endParaRPr lang="en-US" sz="2000" dirty="0">
              <a:latin typeface="Times New Roman"/>
              <a:cs typeface="Times New Roman"/>
            </a:endParaRPr>
          </a:p>
          <a:p>
            <a:pPr marL="640715" indent="-342900">
              <a:lnSpc>
                <a:spcPct val="100000"/>
              </a:lnSpc>
              <a:spcBef>
                <a:spcPts val="1490"/>
              </a:spcBef>
              <a:buFont typeface="Wingdings" panose="05000000000000000000" pitchFamily="2" charset="2"/>
              <a:buChar char="Ø"/>
            </a:pPr>
            <a:endParaRPr lang="en-US" sz="2000" dirty="0">
              <a:latin typeface="Times New Roman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DB8F76-9DEC-E9DA-562A-B5D46C56E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734" y="984508"/>
            <a:ext cx="8582532" cy="571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758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3056ED3-6A26-5F72-8D7A-0838BEA16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E6B24935-EBA1-7C00-7A0E-CDFE47B2E2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328" y="154039"/>
            <a:ext cx="10928197" cy="679867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046A78A0-4154-30DC-4F2F-73CF93F0F5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600" y="1066800"/>
            <a:ext cx="662939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25" dirty="0"/>
              <a:t>            CONCLUSION</a:t>
            </a:r>
            <a:endParaRPr sz="2800"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4D8C770-0256-6609-63EA-CE145BB090CD}"/>
              </a:ext>
            </a:extLst>
          </p:cNvPr>
          <p:cNvSpPr txBox="1"/>
          <p:nvPr/>
        </p:nvSpPr>
        <p:spPr>
          <a:xfrm>
            <a:off x="1219201" y="2179299"/>
            <a:ext cx="8497368" cy="3576620"/>
          </a:xfrm>
          <a:prstGeom prst="rect">
            <a:avLst/>
          </a:prstGeom>
        </p:spPr>
        <p:txBody>
          <a:bodyPr vert="horz" wrap="square" lIns="0" tIns="189230" rIns="0" bIns="0" rtlCol="0">
            <a:spAutoFit/>
          </a:bodyPr>
          <a:lstStyle/>
          <a:p>
            <a:pPr marL="342900" indent="-342900">
              <a:buFont typeface="Wingdings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Substitution Method is an effective technique for proving the time complexity of recurrence relations.</a:t>
            </a:r>
          </a:p>
          <a:p>
            <a:pPr marL="342900" indent="-342900">
              <a:buFont typeface="Wingdings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recurrence T(n) = T(n/2) + 1, the problem size is reduced by half at each recursive step.</a:t>
            </a:r>
          </a:p>
          <a:p>
            <a:pPr marL="342900" indent="-342900">
              <a:buFont typeface="Wingdings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recurrence is proven to have O(log n) time complexity using mathematical induction.</a:t>
            </a:r>
          </a:p>
          <a:p>
            <a:pPr marL="342900" indent="-342900">
              <a:buFont typeface="Wingdings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is widely used to analyze divide-and-conquer algorithms such as Binary Search.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28796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26DB7B-0B30-1822-BA27-EAB883DD7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E03BD9E-766F-25D5-E7CF-76A2CE9531D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327" y="154039"/>
            <a:ext cx="11236632" cy="1143273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BA188389-AA2C-3CF0-58A1-CAA9B343B6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47260" y="1580972"/>
            <a:ext cx="2871387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30" dirty="0"/>
              <a:t>REFERENCE</a:t>
            </a:r>
            <a:endParaRPr sz="2800" spc="-1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99A7D12-97E8-DCB9-5ABC-65AED402EC78}"/>
              </a:ext>
            </a:extLst>
          </p:cNvPr>
          <p:cNvSpPr txBox="1"/>
          <p:nvPr/>
        </p:nvSpPr>
        <p:spPr>
          <a:xfrm>
            <a:off x="914400" y="2362200"/>
            <a:ext cx="10724012" cy="3860031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Thomas H.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Charles E.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Leiserson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Ronald L. Rivest, and Clifford Stein, Introduction to Algorithms, 4th Edition, MIT Press, 2022.</a:t>
            </a:r>
          </a:p>
          <a:p>
            <a:pPr marL="342900" indent="-342900">
              <a:buFont typeface="Wingdings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Ellis Horowitz, Sartaj Sahni,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Sanguthevar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Rajasekaran, Fundamentals of Computer Algorithms, 2nd Edition, Universities Press.</a:t>
            </a:r>
          </a:p>
          <a:p>
            <a:pPr marL="342900" indent="-342900">
              <a:buFont typeface="Wingdings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Alfred V. Aho, John E. Hopcroft, and Jeffrey D. Ullman, The Design and Analysis of Computer Algorithms, Addison-Wesley.</a:t>
            </a:r>
          </a:p>
          <a:p>
            <a:pPr marL="342900" indent="-342900">
              <a:buFont typeface="Wingdings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Donald E. Knuth, The Art of Computer Programming, Volume 1: Fundamental Algorithms, Addison-Wesley.</a:t>
            </a:r>
            <a:endParaRPr lang="en-US" sz="2000" spc="-3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444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59891" y="2944926"/>
            <a:ext cx="684150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254" dirty="0">
                <a:latin typeface="Georgia"/>
                <a:cs typeface="Georgia"/>
              </a:rPr>
              <a:t>THANK</a:t>
            </a:r>
            <a:r>
              <a:rPr sz="4400" spc="-195" dirty="0">
                <a:latin typeface="Georgia"/>
                <a:cs typeface="Georgia"/>
              </a:rPr>
              <a:t> </a:t>
            </a:r>
            <a:r>
              <a:rPr sz="4400" spc="160" dirty="0">
                <a:latin typeface="Georgia"/>
                <a:cs typeface="Georgia"/>
              </a:rPr>
              <a:t>YOU</a:t>
            </a:r>
            <a:endParaRPr sz="440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463</Words>
  <Application>Microsoft Office PowerPoint</Application>
  <PresentationFormat>Widescreen</PresentationFormat>
  <Paragraphs>54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Substitution Method for Logarithmic Growth</vt:lpstr>
      <vt:lpstr>INTRODUCTION</vt:lpstr>
      <vt:lpstr>PROBLEM  STATEMENT</vt:lpstr>
      <vt:lpstr>ALGORITHM</vt:lpstr>
      <vt:lpstr>ARCHITECTURE DIAGRAM </vt:lpstr>
      <vt:lpstr>IMPLEMENTATION </vt:lpstr>
      <vt:lpstr> </vt:lpstr>
      <vt:lpstr>            CONCLUSION</vt:lpstr>
      <vt:lpstr>REFERENCE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Case-Based Analysis of Algorithm Efficiency Using Merge Sort</dc:title>
  <dc:creator>yasvanth</dc:creator>
  <cp:lastModifiedBy>Srimathi H</cp:lastModifiedBy>
  <cp:revision>9</cp:revision>
  <dcterms:modified xsi:type="dcterms:W3CDTF">2026-07-22T03:33:40Z</dcterms:modified>
</cp:coreProperties>
</file>